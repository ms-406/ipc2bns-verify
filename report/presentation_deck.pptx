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E3A8A"/>
                </a:solidFill>
              </a:defRPr>
            </a:pPr>
            <a:r>
              <a:t>IPC2BNS-Verify</a:t>
            </a:r>
          </a:p>
          <a:p>
            <a:pPr>
              <a:defRPr sz="2000">
                <a:solidFill>
                  <a:srgbClr val="3B82F6"/>
                </a:solidFill>
              </a:defRPr>
            </a:pPr>
            <a:r>
              <a:t>A Constraint-Verified, Incrementally Refreshable RAG Architecture for Indian Statutory Transitions</a:t>
            </a:r>
          </a:p>
          <a:p>
            <a:br/>
            <a:pPr>
              <a:defRPr sz="1400">
                <a:solidFill>
                  <a:srgbClr val="1F2937"/>
                </a:solidFill>
              </a:defRPr>
            </a:pPr>
            <a:r>
              <a:t>Substantive Law (IPC 1860 → BNS 2023) &amp; Procedural Law (CrPC 1973 → BNSS 2023)</a:t>
            </a:r>
            <a:br/>
            <a:r>
              <a:t>Department of Computer Science &amp; Engineering |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The Problem: Historical Inertia &amp; Legal LLM Hallucinations</a:t>
            </a:r>
          </a:p>
          <a:p>
            <a:pPr>
              <a:defRPr sz="1400" i="1">
                <a:solidFill>
                  <a:srgbClr val="64748B"/>
                </a:solidFill>
              </a:defRPr>
            </a:pPr>
            <a:r>
              <a:t>Why standard RAG fails during major statutory transitions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164 Years of Historical Pre-Training Bias: 99%+ of Indian legal texts cite IPC 1860 &amp; CrPC 1973.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Historical Inertia in Closed-Book LLMs: Foundation models default to obsolete sections (10.0% accuracy on current law).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Force-Mapping Repealed Offences: Standard RAG force-maps repealed laws (Sedition §124A, Adultery §497) into wrong sections.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Right Section, Wrong Question: Models cite valid sections that are completely non-responsive to the query.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Cross-Statute Inconsistencies: Contradictory citations (citing IPC §302 Murder alongside BNS §318 Cheating).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System Architecture: Decoupled Constraint Verification</a:t>
            </a:r>
          </a:p>
          <a:p>
            <a:pPr>
              <a:defRPr sz="1400" i="1">
                <a:solidFill>
                  <a:srgbClr val="64748B"/>
                </a:solidFill>
              </a:defRPr>
            </a:pPr>
            <a:r>
              <a:t>End-to-End Neuro-Symbolic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1. Multi-Tier Query Normalization: Hierarchical regex (&lt;0.1ms) + domain offence ontology.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2. Deterministic Concordance Graph: Pure hash-table lookup for exact, split, merged, and repealed provisions.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3. BM25 Statutory Retrieval (Design Choice): Eliminates dense embedding numerical blur across section numbers.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4. Generative Answering: Strict [Act §Section] citation extraction grammar.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5. Two-Layer Hard-Constraint Verifier: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   • Layer 1: Closed-vocabulary statutory ID gating &amp; repeal veto directives.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   • Layer 1.5: Multi-citation cross-statute concordance consistency check.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   • Layer 2: Penal duration &amp; legal ingredient grounding bounding.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   • Layer 2.5: Query-intent semantic relevance gating.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6. Zero-Downtime Hot-Patch Refresh: Ingests new amendments dynamically in &lt;5ms without re-indexing.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Master Experimental Results (with 95% Wilson CIs)</a:t>
            </a:r>
          </a:p>
          <a:p>
            <a:pPr>
              <a:defRPr sz="1400" i="1">
                <a:solidFill>
                  <a:srgbClr val="64748B"/>
                </a:solidFill>
              </a:defRPr>
            </a:pPr>
            <a:r>
              <a:t>Rigorous Cross-Stage Empirical 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4876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E3A8A"/>
                          </a:solidFill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E3A8A"/>
                          </a:solidFill>
                        </a:rP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E3A8A"/>
                          </a:solidFill>
                        </a:rPr>
                        <a:t>Testbed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E3A8A"/>
                          </a:solidFill>
                        </a:rPr>
                        <a:t>Accuracy /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E3A8A"/>
                          </a:solidFill>
                        </a:rPr>
                        <a:t>95% Wilson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E3A8A"/>
                          </a:solidFill>
                        </a:rPr>
                        <a:t>Catch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E3A8A"/>
                          </a:solidFill>
                        </a:rPr>
                        <a:t>FPR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Stage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Baseline LLM (Closed-Book)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Dev Set (N=60)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10.0% (6/60)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[4.7% - 20.1%]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N/A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Stage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+BM25 RAG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Dev Set (N=60)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63.3% (38/60)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[50.7% - 74.4%]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N/A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Stage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+Two-Layer Hard Verifier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Stress Set (N=30)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100.0% (30/30)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[88.6% - 100.0%]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100.0% (18/18)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0.0% (0/12)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Stage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+Incremental Refresh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Amendments (N=3)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100.0% (3/3)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Case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100.0% (18/18)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0.0% (0/12)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Generalize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CrPC &lt;-&gt; BNSS (Procedural)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Procedural (N=30)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100.0% (30/30)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[88.6% - 100.0%]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</a:rPr>
                        <a:t>0.0% (0/30)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• McNemar Paired Test (Stage 1 vs 2): chi2 = 28.26, p &lt; 10^-6 (statistically significant jump).</a:t>
            </a:r>
            <a:br/>
            <a:r>
              <a:t>• Double-Blind Calibration: Cohen's Kappa kappa = 0.93 across N=20 calibrated test queries.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Interactive Web UI Showcase (`app.py`) for Viva</a:t>
            </a:r>
          </a:p>
          <a:p>
            <a:pPr>
              <a:defRPr sz="1400" i="1">
                <a:solidFill>
                  <a:srgbClr val="64748B"/>
                </a:solidFill>
              </a:defRPr>
            </a:pPr>
            <a:r>
              <a:t>Real-Time Pipeline Inspection &amp; Safety 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Live 5-Step Pipeline Inspection: Normalizer → Concordance → BM25 Retrieval → Generation → Verifier.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Sedition Repeal Interception (IPC §124A): Demonstrates active verifier veto and statutory advisory injection.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Split Section Ambiguity Breakdown: Demonstrates graded confidence on IPC §33 → BNS §2(1) &amp; §2(25).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Zero-Downtime Amendment Toggle: Live switch between Base 2024 Gazette and Hot-Patched 2025 AI Amendment Index.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</a:defRPr>
            </a:pPr>
            <a:r>
              <a:t>• 67 Automated Unit Tests Passing (100% Pass Rate in 0.27s).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